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0" y="1051560"/>
            <a:ext cx="4937760" cy="44805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9000" b="1">
                <a:solidFill>
                  <a:srgbClr val="101A2E"/>
                </a:solidFill>
                <a:latin typeface="Arial"/>
                <a:ea typeface="Arial"/>
              </a:rPr>
              <a:t>AQ</a:t>
            </a:r>
          </a:p>
        </p:txBody>
      </p:sp>
      <p:pic>
        <p:nvPicPr>
          <p:cNvPr id="3" name="Picture 2" descr="aqnet-logo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148840" cy="5191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2464308"/>
            <a:ext cx="237744" cy="27940"/>
          </a:xfrm>
          <a:prstGeom prst="rect">
            <a:avLst/>
          </a:prstGeom>
          <a:solidFill>
            <a:srgbClr val="2E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1" y="23957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ED3FF"/>
                </a:solidFill>
                <a:latin typeface="Arial"/>
                <a:ea typeface="Arial"/>
              </a:rPr>
              <a:t>AI &amp; DATA GROWTH OPERATING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퍼포먼스 마케팅을 넘어,</a:t>
            </a:r>
          </a:p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성장 구조를 </a:t>
            </a:r>
            <a:r>
              <a:rPr sz="4000" b="1">
                <a:solidFill>
                  <a:srgbClr val="2ED3FF"/>
                </a:solidFill>
                <a:latin typeface="Malgun Gothic"/>
                <a:ea typeface="Malgun Gothic"/>
              </a:rPr>
              <a:t>설계</a:t>
            </a: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C3CBD9"/>
                </a:solidFill>
                <a:latin typeface="Malgun Gothic"/>
                <a:ea typeface="Malgun Gothic"/>
              </a:rPr>
              <a:t>데이터·AI 기반 마케팅 기술 컴퍼니  |  회사소개서 (초안)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053328"/>
            <a:ext cx="10820095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199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Arial"/>
                <a:ea typeface="Arial"/>
              </a:rPr>
              <a:t>AQNET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3895" y="61996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Arial"/>
                <a:ea typeface="Arial"/>
              </a:rPr>
              <a:t>contact@aqnet.co.kr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0" y="3108960"/>
            <a:ext cx="4023360" cy="3657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3000" b="1">
                <a:solidFill>
                  <a:srgbClr val="101A2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08659"/>
            <a:ext cx="237744" cy="27940"/>
          </a:xfrm>
          <a:prstGeom prst="rect">
            <a:avLst/>
          </a:prstGeom>
          <a:solidFill>
            <a:srgbClr val="2E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1" y="640080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ED3FF"/>
                </a:solidFill>
                <a:latin typeface="Arial"/>
                <a:ea typeface="Arial"/>
              </a:rPr>
              <a:t>WHY AQNET?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AQ는 </a:t>
            </a:r>
            <a:r>
              <a:rPr sz="3300" b="1">
                <a:solidFill>
                  <a:srgbClr val="2ED3FF"/>
                </a:solidFill>
                <a:latin typeface="Arial"/>
                <a:ea typeface="Arial"/>
              </a:rPr>
              <a:t>Adaptability Quotient</a:t>
            </a: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변화에 적응하는 능력입니다.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8A93A8"/>
                </a:solidFill>
                <a:latin typeface="Malgun Gothic"/>
                <a:ea typeface="Malgun Gothic"/>
              </a:rPr>
              <a:t>광고는 계속 변합니다.  AI도 변합니다.  플랫폼도 변합니다.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015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우리는 변화에 적응하는 능력 자체를 설계합니다.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343400"/>
            <a:ext cx="2926080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26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60">
                <a:solidFill>
                  <a:srgbClr val="626C82"/>
                </a:solidFill>
                <a:latin typeface="Arial"/>
                <a:ea typeface="Arial"/>
              </a:rPr>
              <a:t>CAPABILITIES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92040"/>
            <a:ext cx="1901951" cy="38404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92040"/>
            <a:ext cx="1901951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C3CBD9"/>
                </a:solidFill>
                <a:latin typeface="Malgun Gothic"/>
                <a:ea typeface="Malgun Gothic"/>
              </a:rPr>
              <a:t>Data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7" y="4892040"/>
            <a:ext cx="1456944" cy="38404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7" y="4892040"/>
            <a:ext cx="1456944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C3CBD9"/>
                </a:solidFill>
                <a:latin typeface="Malgun Gothic"/>
                <a:ea typeface="Malgun Gothic"/>
              </a:rPr>
              <a:t>AI Automation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0728" y="4892040"/>
            <a:ext cx="1426463" cy="38404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0728" y="4892040"/>
            <a:ext cx="1426463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C3CBD9"/>
                </a:solidFill>
                <a:latin typeface="Malgun Gothic"/>
                <a:ea typeface="Malgun Gothic"/>
              </a:rPr>
              <a:t>Funnel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5207" y="4892040"/>
            <a:ext cx="2060447" cy="38404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5207" y="4892040"/>
            <a:ext cx="2060447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C3CBD9"/>
                </a:solidFill>
                <a:latin typeface="Malgun Gothic"/>
                <a:ea typeface="Malgun Gothic"/>
              </a:rPr>
              <a:t>Creative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93A8"/>
                </a:solidFill>
                <a:latin typeface="Malgun Gothic"/>
                <a:ea typeface="Malgun Gothic"/>
              </a:rPr>
              <a:t>AQNET은 고객 행동 데이터와 매체 성과, 콘텐츠 반응, CRM 신호를 함께 읽어 변화를 반복 가능한 성장 구조로 전환합니다.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35508"/>
            <a:ext cx="237744" cy="27940"/>
          </a:xfrm>
          <a:prstGeom prst="rect">
            <a:avLst/>
          </a:prstGeom>
          <a:solidFill>
            <a:srgbClr val="2E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5669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ED3FF"/>
                </a:solidFill>
                <a:latin typeface="Arial"/>
                <a:ea typeface="Arial"/>
              </a:rPr>
              <a:t>AQ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</a:rPr>
              <a:t>Every Growth Starts with </a:t>
            </a:r>
            <a:r>
              <a:rPr sz="2900" b="1">
                <a:solidFill>
                  <a:srgbClr val="2ED3FF"/>
                </a:solidFill>
                <a:latin typeface="Arial"/>
                <a:ea typeface="Arial"/>
              </a:rPr>
              <a:t>Adaptability.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8A93A8"/>
                </a:solidFill>
                <a:latin typeface="Malgun Gothic"/>
                <a:ea typeface="Malgun Gothic"/>
              </a:rPr>
              <a:t>AQNET의 성장 운영은 네 가지 적응 축, C·O·R·E 위에서 설계됩니다.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587752" cy="3977639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73352" y="2240280"/>
            <a:ext cx="1463040" cy="1554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600" b="1">
                <a:solidFill>
                  <a:srgbClr val="1B2B4C"/>
                </a:solidFill>
                <a:latin typeface="Arial"/>
                <a:ea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41448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35224"/>
            <a:ext cx="2075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3CBD9"/>
                </a:solidFill>
                <a:latin typeface="Malgun Gothic"/>
                <a:ea typeface="Malgun Gothic"/>
              </a:rPr>
              <a:t>데이터를 통제합니다.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4754879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754879"/>
            <a:ext cx="920495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광고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72055" y="4754879"/>
            <a:ext cx="525780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2055" y="4754879"/>
            <a:ext cx="5257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CRM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5148071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148071"/>
            <a:ext cx="493776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퍼널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45336" y="5148071"/>
            <a:ext cx="525780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45336" y="5148071"/>
            <a:ext cx="5257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KPI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148840"/>
            <a:ext cx="2587752" cy="3977639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2240280"/>
            <a:ext cx="1463040" cy="1554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600" b="1">
                <a:solidFill>
                  <a:srgbClr val="1B2B4C"/>
                </a:solidFill>
                <a:latin typeface="Arial"/>
                <a:ea typeface="Arial"/>
              </a:rP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2441448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2935224"/>
            <a:ext cx="2075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3CBD9"/>
                </a:solidFill>
                <a:latin typeface="Malgun Gothic"/>
                <a:ea typeface="Malgun Gothic"/>
              </a:rPr>
              <a:t>성과를 끝까지 책임집니다.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76472" y="4754879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6472" y="4754879"/>
            <a:ext cx="621792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ROAS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4754879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4754879"/>
            <a:ext cx="493776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매출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1496" y="4754879"/>
            <a:ext cx="525780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4754879"/>
            <a:ext cx="52578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LTV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148840"/>
            <a:ext cx="2587752" cy="3977639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2" y="2240280"/>
            <a:ext cx="1463040" cy="1554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600" b="1">
                <a:solidFill>
                  <a:srgbClr val="1B2B4C"/>
                </a:solidFill>
                <a:latin typeface="Arial"/>
                <a:ea typeface="Arial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441448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Reach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2935224"/>
            <a:ext cx="2075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3CBD9"/>
                </a:solidFill>
                <a:latin typeface="Malgun Gothic"/>
                <a:ea typeface="Malgun Gothic"/>
              </a:rPr>
              <a:t>성과를 확장합니다.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11112" y="4754879"/>
            <a:ext cx="611124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4754879"/>
            <a:ext cx="61112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Media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1964" y="4754879"/>
            <a:ext cx="819150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1964" y="4754879"/>
            <a:ext cx="81915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Creative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11112" y="5148071"/>
            <a:ext cx="957834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5148071"/>
            <a:ext cx="957834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Automation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78674" y="5148071"/>
            <a:ext cx="680466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78674" y="5148071"/>
            <a:ext cx="680466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Global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2148840"/>
            <a:ext cx="2587752" cy="3977639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7272" y="2240280"/>
            <a:ext cx="1463040" cy="1554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600" b="1">
                <a:solidFill>
                  <a:srgbClr val="1B2B4C"/>
                </a:solidFill>
                <a:latin typeface="Arial"/>
                <a:ea typeface="Arial"/>
              </a:rPr>
              <a:t>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2441448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</a:rPr>
              <a:t>Endurance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45752" y="2935224"/>
            <a:ext cx="20756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3CBD9"/>
                </a:solidFill>
                <a:latin typeface="Malgun Gothic"/>
                <a:ea typeface="Malgun Gothic"/>
              </a:rPr>
              <a:t>성과를 지속시킵니다.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45752" y="4754879"/>
            <a:ext cx="429768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45752" y="4754879"/>
            <a:ext cx="429768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AI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85248" y="4754879"/>
            <a:ext cx="680466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85248" y="4754879"/>
            <a:ext cx="680466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System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45752" y="5148071"/>
            <a:ext cx="819150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45752" y="5148071"/>
            <a:ext cx="81915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Learning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74630" y="5148071"/>
            <a:ext cx="1096517" cy="292608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74630" y="5148071"/>
            <a:ext cx="1096517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35508"/>
            <a:ext cx="237744" cy="27940"/>
          </a:xfrm>
          <a:prstGeom prst="rect">
            <a:avLst/>
          </a:prstGeom>
          <a:solidFill>
            <a:srgbClr val="2E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5669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ED3FF"/>
                </a:solidFill>
                <a:latin typeface="Arial"/>
                <a:ea typeface="Arial"/>
              </a:rPr>
              <a:t>ABOUT AQNET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500" b="1">
                <a:solidFill>
                  <a:srgbClr val="FFFFFF"/>
                </a:solidFill>
                <a:latin typeface="Malgun Gothic"/>
                <a:ea typeface="Malgun Gothic"/>
              </a:rPr>
              <a:t>데이터, AI, 크리에이티브, 미디어 운영을</a:t>
            </a:r>
          </a:p>
          <a:p>
            <a:pPr algn="l">
              <a:lnSpc>
                <a:spcPct val="122000"/>
              </a:lnSpc>
            </a:pPr>
            <a:r>
              <a:rPr sz="2500" b="1">
                <a:solidFill>
                  <a:srgbClr val="FFFFFF"/>
                </a:solidFill>
                <a:latin typeface="Malgun Gothic"/>
                <a:ea typeface="Malgun Gothic"/>
              </a:rPr>
              <a:t>하나의 성장 시스템으로 연결합니다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2587752" cy="196596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734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20">
                <a:solidFill>
                  <a:srgbClr val="2ED3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026664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74720"/>
            <a:ext cx="2112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산업, 상품, 고객 행동 데이터를 기준으로 성장 병목을 찾습니다.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514600"/>
            <a:ext cx="2587752" cy="196596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8184" y="2734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20">
                <a:solidFill>
                  <a:srgbClr val="2ED3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3026664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3474720"/>
            <a:ext cx="2112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매체 운영과 크리에이티브 실험을 같은 가설 아래 검증합니다.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514600"/>
            <a:ext cx="2587752" cy="196596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734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20">
                <a:solidFill>
                  <a:srgbClr val="2ED3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3026664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474720"/>
            <a:ext cx="2112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리포팅, 이상 신호, 예산 판단을 운영 시스템으로 정리합니다.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514600"/>
            <a:ext cx="2587752" cy="196596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7464" y="2734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20">
                <a:solidFill>
                  <a:srgbClr val="2ED3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3026664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3474720"/>
            <a:ext cx="2112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결과를 리포트로 끝내지 않고 다음 퍼널 개선으로 연결합니다.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74920"/>
            <a:ext cx="2587752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39512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2ED3FF"/>
                </a:solidFill>
                <a:latin typeface="Arial"/>
                <a:ea typeface="Arial"/>
              </a:rPr>
              <a:t>70+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2587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운영 브랜드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5074920"/>
            <a:ext cx="2587752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5239512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989320"/>
            <a:ext cx="2587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Growth Modules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5074920"/>
            <a:ext cx="2587752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239512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989320"/>
            <a:ext cx="2587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대표 성장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5074920"/>
            <a:ext cx="2587752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5239512"/>
            <a:ext cx="2587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989320"/>
            <a:ext cx="2587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Integrated Growth 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35508"/>
            <a:ext cx="237744" cy="27940"/>
          </a:xfrm>
          <a:prstGeom prst="rect">
            <a:avLst/>
          </a:prstGeom>
          <a:solidFill>
            <a:srgbClr val="22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5669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276FF"/>
                </a:solidFill>
                <a:latin typeface="Arial"/>
                <a:ea typeface="Arial"/>
              </a:rP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6개의 성장 모듈 — 데이터 분석, AI 운영, 퍼포먼스 실행을 하나로 설계합니다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65576" cy="1938528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4825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626C82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6148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매체, CRM, 커머스, 고객 행동 데이터를 통합해 구매 여정과 성장 병목을 해석합니다.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465576" cy="1938528"/>
          </a:xfrm>
          <a:prstGeom prst="roundRect">
            <a:avLst>
              <a:gd name="adj" fmla="val 6000"/>
            </a:avLst>
          </a:prstGeom>
          <a:solidFill>
            <a:srgbClr val="12233F"/>
          </a:solidFill>
          <a:ln w="9525">
            <a:solidFill>
              <a:srgbClr val="3A5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4825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2ED3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4264" y="2011680"/>
            <a:ext cx="969263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4264" y="2011680"/>
            <a:ext cx="969263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spc="100">
                <a:solidFill>
                  <a:srgbClr val="2ED3FF"/>
                </a:solidFill>
                <a:latin typeface="Arial"/>
                <a:ea typeface="Arial"/>
              </a:rPr>
              <a:t>FLAGSHIP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AI Marketing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6148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3CBD9"/>
                </a:solidFill>
                <a:latin typeface="Malgun Gothic"/>
                <a:ea typeface="Malgun Gothic"/>
              </a:rPr>
              <a:t>반복 운영을 줄이고 캠페인 의사결정 속도를 높이는 AI 기반 운영 환경을 구축합니다.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828800"/>
            <a:ext cx="3465576" cy="1938528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04825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626C82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33172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Performance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76148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검색, 디스플레이, 소셜, 앱, 비디오, 리테일 미디어까지 목표별 매체 전략을 설계합니다.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23360"/>
            <a:ext cx="3465576" cy="1938528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242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626C82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52628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Creative &amp; 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95604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데이터로 가설을 세우고 소재, 숏폼, 랜딩 메시지를 실험해 전환 가능성을 높입니다.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4023360"/>
            <a:ext cx="3465576" cy="1938528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626C82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2628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CRM / Funnel 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95604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유입 이후의 리텐션과 재구매까지 고려해 CRM 캠페인과 퍼널 흐름을 설계합니다.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4023360"/>
            <a:ext cx="3465576" cy="1938528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4242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626C82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52628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Commerce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95604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3A8"/>
                </a:solidFill>
                <a:latin typeface="Malgun Gothic"/>
                <a:ea typeface="Malgun Gothic"/>
              </a:rPr>
              <a:t>상품, 채널, 프로모션, 광고 데이터를 연결해 커머스 브랜드의 성과 구조를 만듭니다.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26C82"/>
                </a:solidFill>
                <a:latin typeface="Malgun Gothic"/>
                <a:ea typeface="Malgun Gothic"/>
              </a:rPr>
              <a:t>모든 모듈은 AQ Growth OS 위에서 하나의 성장 루프로 연결됩니다.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35508"/>
            <a:ext cx="237744" cy="27940"/>
          </a:xfrm>
          <a:prstGeom prst="rect">
            <a:avLst/>
          </a:prstGeom>
          <a:solidFill>
            <a:srgbClr val="22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5669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276FF"/>
                </a:solidFill>
                <a:latin typeface="Arial"/>
                <a:ea typeface="Arial"/>
              </a:rPr>
              <a:t>MEDIA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검색부터 쇼핑까지, 목표에 맞는 광고 상품을 운영합니다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12848"/>
            <a:ext cx="20939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검색광고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71800"/>
            <a:ext cx="20939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구매 의도가 가장 명확한 검색 수요를 전환으로 연결합니다.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434840"/>
            <a:ext cx="2093976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59028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7AB7FF"/>
                </a:solidFill>
                <a:latin typeface="Malgun Gothic"/>
                <a:ea typeface="Malgun Gothic"/>
              </a:rPr>
              <a:t>네이버 SA · Google 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92024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212848"/>
            <a:ext cx="20939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디스플레이·배너광고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971800"/>
            <a:ext cx="20939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잠재 고객 도달과 리타겟팅으로 퍼널 상단을 넓힙니다.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4434840"/>
            <a:ext cx="2093976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459028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7AB7FF"/>
                </a:solidFill>
                <a:latin typeface="Malgun Gothic"/>
                <a:ea typeface="Malgun Gothic"/>
              </a:rPr>
              <a:t>네이버 GFA · GDN · 카카오모먼트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212848"/>
            <a:ext cx="20939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SNS·영상광고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971800"/>
            <a:ext cx="20939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콘텐츠 반응 데이터로 소재를 검증하며 전환을 만듭니다.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4434840"/>
            <a:ext cx="2093976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59028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7AB7FF"/>
                </a:solidFill>
                <a:latin typeface="Malgun Gothic"/>
                <a:ea typeface="Malgun Gothic"/>
              </a:rPr>
              <a:t>Meta · YouTube · TikTok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92024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2212848"/>
            <a:ext cx="20939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오픈마켓·쇼핑광고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971800"/>
            <a:ext cx="20939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구매 직전 트래픽을 상품 단위로 최적화합니다.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36608" y="4434840"/>
            <a:ext cx="2093976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459028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7AB7FF"/>
                </a:solidFill>
                <a:latin typeface="Malgun Gothic"/>
                <a:ea typeface="Malgun Gothic"/>
              </a:rPr>
              <a:t>네이버쇼핑 · 쿠팡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26C82"/>
                </a:solidFill>
                <a:latin typeface="Malgun Gothic"/>
                <a:ea typeface="Malgun Gothic"/>
              </a:rPr>
              <a:t>문의 시 광고 종류(검색·배너·오픈마켓·SNS)와 월 평균 예산을 알려주시면 진단이 빨라집니다.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35508"/>
            <a:ext cx="237744" cy="27940"/>
          </a:xfrm>
          <a:prstGeom prst="rect">
            <a:avLst/>
          </a:prstGeom>
          <a:solidFill>
            <a:srgbClr val="2E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5669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ED3FF"/>
                </a:solidFill>
                <a:latin typeface="Arial"/>
                <a:ea typeface="Arial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</a:rPr>
              <a:t>AQ Growth OS</a:t>
            </a:r>
            <a:r>
              <a:rPr sz="2000" b="1">
                <a:solidFill>
                  <a:srgbClr val="C3CBD9"/>
                </a:solidFill>
                <a:latin typeface="Malgun Gothic"/>
                <a:ea typeface="Malgun Gothic"/>
              </a:rPr>
              <a:t>  —  성장 운영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93A8"/>
                </a:solidFill>
                <a:latin typeface="Malgun Gothic"/>
                <a:ea typeface="Malgun Gothic"/>
              </a:rPr>
              <a:t>광고, CRM, 커머스, 콘텐츠 데이터를 연결해 다음 액션을 결정하고, 실행 결과를 다시 학습하는 운영 프레임입니다.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6883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2ED3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71800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29000"/>
            <a:ext cx="16184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광고, CRM, 커머스, 콘텐츠 반응 데이터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3447288"/>
            <a:ext cx="24688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7AB7FF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46888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6883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2ED3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71800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3429000"/>
            <a:ext cx="16184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세그먼트, 전환 병목, 채널 기여도 해석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1" y="3447288"/>
            <a:ext cx="24688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7AB7FF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46888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6883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2ED3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971800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429000"/>
            <a:ext cx="16184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예산, 소재, CRM 액션의 우선순위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3447288"/>
            <a:ext cx="24688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7AB7FF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79" y="246888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26883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2ED3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971800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3429000"/>
            <a:ext cx="16184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캠페인, 콘텐츠, 랜딩, 퍼널 개선 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447288"/>
            <a:ext cx="246888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7AB7FF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246888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5208" y="26883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120">
                <a:solidFill>
                  <a:srgbClr val="2ED3FF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2971800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</a:rPr>
              <a:t>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3429000"/>
            <a:ext cx="16184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93A8"/>
                </a:solidFill>
                <a:latin typeface="Malgun Gothic"/>
                <a:ea typeface="Malgun Gothic"/>
              </a:rPr>
              <a:t>실행 결과를 다음 성장 가설로 재구성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spc="140">
                <a:solidFill>
                  <a:srgbClr val="2ED3FF"/>
                </a:solidFill>
                <a:latin typeface="Arial"/>
                <a:ea typeface="Arial"/>
              </a:rPr>
              <a:t>LOOP</a:t>
            </a:r>
            <a:r>
              <a:rPr sz="1250" b="0">
                <a:solidFill>
                  <a:srgbClr val="C3CBD9"/>
                </a:solidFill>
                <a:latin typeface="Malgun Gothic"/>
                <a:ea typeface="Malgun Gothic"/>
              </a:rPr>
              <a:t>   Learn의 결과는 다시 Collect로 — 캠페인이 반복될수록 운영이 학습됩니다.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669280"/>
            <a:ext cx="749808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669280"/>
            <a:ext cx="74980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2ED3FF"/>
                </a:solidFill>
                <a:latin typeface="Arial"/>
                <a:ea typeface="Arial"/>
              </a:rPr>
              <a:t>●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4207" y="5678424"/>
            <a:ext cx="9144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운영 콘솔로 데이터 상태와 다음 액션을 상시 모니터링합니다.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35508"/>
            <a:ext cx="237744" cy="27940"/>
          </a:xfrm>
          <a:prstGeom prst="rect">
            <a:avLst/>
          </a:prstGeom>
          <a:solidFill>
            <a:srgbClr val="22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5669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276FF"/>
                </a:solidFill>
                <a:latin typeface="Arial"/>
                <a:ea typeface="Arial"/>
              </a:rPr>
              <a:t>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데이터로 검증한 성장 사례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020824" cy="338328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66543"/>
            <a:ext cx="16184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ED3FF"/>
                </a:solidFill>
                <a:latin typeface="Arial"/>
                <a:ea typeface="Arial"/>
              </a:rPr>
              <a:t>Data-led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33472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뮐러악기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3520440"/>
            <a:ext cx="1618488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6576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월 예산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13631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C3CBD9"/>
                </a:solidFill>
                <a:latin typeface="Malgun Gothic"/>
                <a:ea typeface="Malgun Gothic"/>
              </a:rPr>
              <a:t>2천만원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3434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광고 매출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599431"/>
            <a:ext cx="1618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2ED3FF"/>
                </a:solidFill>
                <a:latin typeface="Malgun Gothic"/>
                <a:ea typeface="Malgun Gothic"/>
              </a:rPr>
              <a:t>2.5억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828800"/>
            <a:ext cx="2020824" cy="338328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066543"/>
            <a:ext cx="16184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ED3FF"/>
                </a:solidFill>
                <a:latin typeface="Arial"/>
                <a:ea typeface="Arial"/>
              </a:rPr>
              <a:t>Channel Mix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633472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삼천리자전거 프리미엄샵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8" y="3520440"/>
            <a:ext cx="1618488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36576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월 예산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3913631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C3CBD9"/>
                </a:solidFill>
                <a:latin typeface="Malgun Gothic"/>
                <a:ea typeface="Malgun Gothic"/>
              </a:rPr>
              <a:t>3천만원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43434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광고 매출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4599431"/>
            <a:ext cx="1618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2ED3FF"/>
                </a:solidFill>
                <a:latin typeface="Malgun Gothic"/>
                <a:ea typeface="Malgun Gothic"/>
              </a:rPr>
              <a:t>4억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828800"/>
            <a:ext cx="2020824" cy="338328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2066543"/>
            <a:ext cx="16184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ED3FF"/>
                </a:solidFill>
                <a:latin typeface="Arial"/>
                <a:ea typeface="Arial"/>
              </a:rPr>
              <a:t>Funnel Signal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633472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POC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3520440"/>
            <a:ext cx="1618488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76088" y="36576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월 예산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913631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C3CBD9"/>
                </a:solidFill>
                <a:latin typeface="Malgun Gothic"/>
                <a:ea typeface="Malgun Gothic"/>
              </a:rPr>
              <a:t>3천만원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3434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광고 매출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4599431"/>
            <a:ext cx="1618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2ED3FF"/>
                </a:solidFill>
                <a:latin typeface="Malgun Gothic"/>
                <a:ea typeface="Malgun Gothic"/>
              </a:rPr>
              <a:t>1억 5천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79" y="1828800"/>
            <a:ext cx="2020824" cy="338328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2066543"/>
            <a:ext cx="16184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ED3FF"/>
                </a:solidFill>
                <a:latin typeface="Arial"/>
                <a:ea typeface="Arial"/>
              </a:rPr>
              <a:t>Lean Growth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2633472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여섯별 이야기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70648" y="3520440"/>
            <a:ext cx="1618488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648" y="36576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월 예산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3913631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C3CBD9"/>
                </a:solidFill>
                <a:latin typeface="Malgun Gothic"/>
                <a:ea typeface="Malgun Gothic"/>
              </a:rPr>
              <a:t>800만원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43434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광고 매출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8" y="4599431"/>
            <a:ext cx="1618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2ED3FF"/>
                </a:solidFill>
                <a:latin typeface="Malgun Gothic"/>
                <a:ea typeface="Malgun Gothic"/>
              </a:rPr>
              <a:t>3억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1828800"/>
            <a:ext cx="2020824" cy="3383280"/>
          </a:xfrm>
          <a:prstGeom prst="roundRect">
            <a:avLst>
              <a:gd name="adj" fmla="val 6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65208" y="2066543"/>
            <a:ext cx="16184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ED3FF"/>
                </a:solidFill>
                <a:latin typeface="Arial"/>
                <a:ea typeface="Arial"/>
              </a:rPr>
              <a:t>Marketplace Scaling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8" y="2633472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전국대표 팔도장터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65208" y="3520440"/>
            <a:ext cx="1618488" cy="12700"/>
          </a:xfrm>
          <a:prstGeom prst="rect">
            <a:avLst/>
          </a:prstGeom>
          <a:solidFill>
            <a:srgbClr val="2A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5208" y="36576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월 예산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5208" y="3913631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C3CBD9"/>
                </a:solidFill>
                <a:latin typeface="Malgun Gothic"/>
                <a:ea typeface="Malgun Gothic"/>
              </a:rPr>
              <a:t>100만원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65208" y="434340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26C82"/>
                </a:solidFill>
                <a:latin typeface="Malgun Gothic"/>
                <a:ea typeface="Malgun Gothic"/>
              </a:rPr>
              <a:t>광고 매출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5208" y="4599431"/>
            <a:ext cx="1618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2ED3FF"/>
                </a:solidFill>
                <a:latin typeface="Malgun Gothic"/>
                <a:ea typeface="Malgun Gothic"/>
              </a:rPr>
              <a:t>6천만원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26C82"/>
                </a:solidFill>
                <a:latin typeface="Malgun Gothic"/>
                <a:ea typeface="Malgun Gothic"/>
              </a:rPr>
              <a:t>※ 광고 매출은 광고비로 발생한 매출 기준이며, 상품군·운영 기간에 따라 차이가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35508"/>
            <a:ext cx="237744" cy="27940"/>
          </a:xfrm>
          <a:prstGeom prst="rect">
            <a:avLst/>
          </a:prstGeom>
          <a:solidFill>
            <a:srgbClr val="227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1" y="566928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276FF"/>
                </a:solidFill>
                <a:latin typeface="Arial"/>
                <a:ea typeface="Arial"/>
              </a:rPr>
              <a:t>CLIENT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산업은 달라도, 성장의 구조는 데이터로 연결됩니다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600" b="1">
                <a:solidFill>
                  <a:srgbClr val="2ED3FF"/>
                </a:solidFill>
                <a:latin typeface="Arial"/>
                <a:ea typeface="Arial"/>
              </a:rPr>
              <a:t>70+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C3CBD9"/>
                </a:solidFill>
                <a:latin typeface="Malgun Gothic"/>
                <a:ea typeface="Malgun Gothic"/>
              </a:rPr>
              <a:t>운영 브랜드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810767" cy="329184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810767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Malgun Gothic"/>
                <a:ea typeface="Malgun Gothic"/>
              </a:rPr>
              <a:t>생활가전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4583" y="3886200"/>
            <a:ext cx="408432" cy="329184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4583" y="3886200"/>
            <a:ext cx="40843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Malgun Gothic"/>
                <a:ea typeface="Malgun Gothic"/>
              </a:rPr>
              <a:t>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1032" y="3886200"/>
            <a:ext cx="542543" cy="329184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1032" y="3886200"/>
            <a:ext cx="542543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Malgun Gothic"/>
                <a:ea typeface="Malgun Gothic"/>
              </a:rPr>
              <a:t>식품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1592" y="3886200"/>
            <a:ext cx="542543" cy="329184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1592" y="3886200"/>
            <a:ext cx="542543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Malgun Gothic"/>
                <a:ea typeface="Malgun Gothic"/>
              </a:rPr>
              <a:t>뷰티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43400"/>
            <a:ext cx="542543" cy="329184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542543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Malgun Gothic"/>
                <a:ea typeface="Malgun Gothic"/>
              </a:rPr>
              <a:t>테크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6360" y="4343400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9525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6360" y="4343400"/>
            <a:ext cx="676656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93A8"/>
                </a:solidFill>
                <a:latin typeface="Malgun Gothic"/>
                <a:ea typeface="Malgun Gothic"/>
              </a:rPr>
              <a:t>커머스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93A8"/>
                </a:solidFill>
                <a:latin typeface="Malgun Gothic"/>
                <a:ea typeface="Malgun Gothic"/>
              </a:rPr>
              <a:t>브랜드별 고객 여정과 채널 신호를 읽어 확장 가능한 운영 전략으로 전환합니다.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103120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993" y="2359152"/>
            <a:ext cx="915445" cy="65836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050024" y="2103120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867" y="2359152"/>
            <a:ext cx="999743" cy="65836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528048" y="2103120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-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524" y="2425955"/>
            <a:ext cx="1554480" cy="5247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572000" y="3438144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-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3736570"/>
            <a:ext cx="1554480" cy="57357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050024" y="3438144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-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0" y="3785312"/>
            <a:ext cx="1554480" cy="476095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528048" y="3438144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-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7524" y="3906356"/>
            <a:ext cx="1554480" cy="23400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572000" y="4773168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-0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348" y="5029200"/>
            <a:ext cx="1316736" cy="65836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050024" y="4773168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ogo-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0" y="5099304"/>
            <a:ext cx="1554480" cy="51816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528048" y="4773168"/>
            <a:ext cx="2313432" cy="11704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-0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7524" y="5056670"/>
            <a:ext cx="1554480" cy="60342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0" y="6153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26C82"/>
                </a:solidFill>
                <a:latin typeface="Malgun Gothic"/>
                <a:ea typeface="Malgun Gothic"/>
              </a:rPr>
              <a:t>레퍼런스 일부 — 전체 브랜드는 홈페이지 Client Network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0" y="1280160"/>
            <a:ext cx="4206240" cy="40233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5000" b="1">
                <a:solidFill>
                  <a:srgbClr val="101A2E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845819"/>
            <a:ext cx="237744" cy="27940"/>
          </a:xfrm>
          <a:prstGeom prst="rect">
            <a:avLst/>
          </a:prstGeom>
          <a:solidFill>
            <a:srgbClr val="2E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1" y="777240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180">
                <a:solidFill>
                  <a:srgbClr val="2ED3FF"/>
                </a:solidFill>
                <a:latin typeface="Arial"/>
                <a:ea typeface="Arial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</a:rPr>
              <a:t>성장 구조를 함께</a:t>
            </a:r>
          </a:p>
          <a:p>
            <a:pPr algn="l">
              <a:lnSpc>
                <a:spcPct val="120000"/>
              </a:lnSpc>
            </a:pPr>
            <a:r>
              <a:rPr sz="3400" b="1">
                <a:solidFill>
                  <a:srgbClr val="2ED3FF"/>
                </a:solidFill>
                <a:latin typeface="Malgun Gothic"/>
                <a:ea typeface="Malgun Gothic"/>
              </a:rPr>
              <a:t>설계</a:t>
            </a:r>
            <a:r>
              <a:rPr sz="3400" b="1">
                <a:solidFill>
                  <a:srgbClr val="FFFFFF"/>
                </a:solidFill>
                <a:latin typeface="Malgun Gothic"/>
                <a:ea typeface="Malgun Gothic"/>
              </a:rPr>
              <a:t>할 준비가 되었습니다.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8A93A8"/>
                </a:solidFill>
                <a:latin typeface="Malgun Gothic"/>
                <a:ea typeface="Malgun Gothic"/>
              </a:rPr>
              <a:t>현재 운영 중인 광고, CRM, 커머스, 고객 행동 데이터를 기준으로 진단 범위와 우선순위부터 정리해 드립니다.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234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20">
                <a:solidFill>
                  <a:srgbClr val="626C82"/>
                </a:solidFill>
                <a:latin typeface="Arial"/>
                <a:ea typeface="Arial"/>
              </a:rPr>
              <a:t>E-MAIL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886200"/>
            <a:ext cx="7772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C3CBD9"/>
                </a:solidFill>
                <a:latin typeface="Malgun Gothic"/>
                <a:ea typeface="Malgun Gothic"/>
              </a:rPr>
              <a:t>contact@aqnet.co.kr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61688"/>
            <a:ext cx="1234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20">
                <a:solidFill>
                  <a:srgbClr val="626C82"/>
                </a:solidFill>
                <a:latin typeface="Arial"/>
                <a:ea typeface="Arial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361688"/>
            <a:ext cx="7772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C3CBD9"/>
                </a:solidFill>
                <a:latin typeface="Malgun Gothic"/>
                <a:ea typeface="Malgun Gothic"/>
              </a:rPr>
              <a:t>sengwoolee.github.io/aqnet-homepage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37176"/>
            <a:ext cx="1234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20">
                <a:solidFill>
                  <a:srgbClr val="626C82"/>
                </a:solidFill>
                <a:latin typeface="Arial"/>
                <a:ea typeface="Arial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837176"/>
            <a:ext cx="7772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C3CBD9"/>
                </a:solidFill>
                <a:latin typeface="Malgun Gothic"/>
                <a:ea typeface="Malgun Gothic"/>
              </a:rPr>
              <a:t>대표 김관호  ·  개인정보책임자 이승우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23560"/>
            <a:ext cx="2292096" cy="402336"/>
          </a:xfrm>
          <a:prstGeom prst="roundRect">
            <a:avLst>
              <a:gd name="adj" fmla="val 50000"/>
            </a:avLst>
          </a:prstGeom>
          <a:solidFill>
            <a:srgbClr val="12233F"/>
          </a:solidFill>
          <a:ln w="9525">
            <a:solidFill>
              <a:srgbClr val="3A5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229209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7AB7FF"/>
                </a:solidFill>
                <a:latin typeface="Malgun Gothic"/>
                <a:ea typeface="Malgun Gothic"/>
              </a:rPr>
              <a:t>2영업일 이내 1차 진단 회신</a:t>
            </a:r>
          </a:p>
        </p:txBody>
      </p:sp>
      <p:pic>
        <p:nvPicPr>
          <p:cNvPr id="15" name="Picture 14" descr="aqnet-logo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5989320"/>
            <a:ext cx="1828800" cy="4418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